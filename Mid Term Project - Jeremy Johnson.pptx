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8404800" cy="3108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208">
          <p15:clr>
            <a:srgbClr val="A4A3A4"/>
          </p15:clr>
        </p15:guide>
        <p15:guide id="2" orient="horz" pos="12059">
          <p15:clr>
            <a:srgbClr val="9AA0A6"/>
          </p15:clr>
        </p15:guide>
        <p15:guide id="3" pos="16704">
          <p15:clr>
            <a:srgbClr val="9AA0A6"/>
          </p15:clr>
        </p15:guide>
        <p15:guide id="4" pos="8587">
          <p15:clr>
            <a:srgbClr val="9AA0A6"/>
          </p15:clr>
        </p15:guide>
        <p15:guide id="5" pos="63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41"/>
  </p:normalViewPr>
  <p:slideViewPr>
    <p:cSldViewPr snapToGrid="0">
      <p:cViewPr>
        <p:scale>
          <a:sx n="30" d="100"/>
          <a:sy n="30" d="100"/>
        </p:scale>
        <p:origin x="2656" y="352"/>
      </p:cViewPr>
      <p:guideLst>
        <p:guide orient="horz" pos="11208"/>
        <p:guide orient="horz" pos="12059"/>
        <p:guide pos="16704"/>
        <p:guide pos="8587"/>
        <p:guide pos="6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11275" y="685800"/>
            <a:ext cx="42354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11275" y="685800"/>
            <a:ext cx="42354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2880360" y="9657931"/>
            <a:ext cx="32644080" cy="666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5760720" y="17617441"/>
            <a:ext cx="26883359" cy="794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lvl="0" algn="ctr">
              <a:spcBef>
                <a:spcPts val="2860"/>
              </a:spcBef>
              <a:spcAft>
                <a:spcPts val="0"/>
              </a:spcAft>
              <a:buClr>
                <a:srgbClr val="888888"/>
              </a:buClr>
              <a:buSzPts val="1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500"/>
              </a:spcBef>
              <a:spcAft>
                <a:spcPts val="0"/>
              </a:spcAft>
              <a:buClr>
                <a:srgbClr val="888888"/>
              </a:buClr>
              <a:buSzPts val="12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140"/>
              </a:spcBef>
              <a:spcAft>
                <a:spcPts val="0"/>
              </a:spcAft>
              <a:buClr>
                <a:srgbClr val="888888"/>
              </a:buClr>
              <a:buSzPts val="10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920240" y="7254242"/>
            <a:ext cx="34564319" cy="205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033715" y="19977950"/>
            <a:ext cx="32644080" cy="617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00"/>
              <a:buFont typeface="Calibri"/>
              <a:buNone/>
              <a:defRPr sz="17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033715" y="13177102"/>
            <a:ext cx="32644080" cy="680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b" anchorCtr="0">
            <a:noAutofit/>
          </a:bodyPr>
          <a:lstStyle>
            <a:lvl1pPr marL="457200" lvl="0" indent="-228600" algn="l">
              <a:spcBef>
                <a:spcPts val="1780"/>
              </a:spcBef>
              <a:spcAft>
                <a:spcPts val="0"/>
              </a:spcAft>
              <a:buClr>
                <a:srgbClr val="888888"/>
              </a:buClr>
              <a:buSzPts val="8900"/>
              <a:buNone/>
              <a:defRPr sz="89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000"/>
              <a:buNone/>
              <a:defRPr sz="80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420"/>
              </a:spcBef>
              <a:spcAft>
                <a:spcPts val="0"/>
              </a:spcAft>
              <a:buClr>
                <a:srgbClr val="888888"/>
              </a:buClr>
              <a:buSzPts val="7100"/>
              <a:buNone/>
              <a:defRPr sz="7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1920240" y="7254242"/>
            <a:ext cx="16962120" cy="205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102235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500"/>
              <a:buChar char="•"/>
              <a:defRPr sz="12500"/>
            </a:lvl1pPr>
            <a:lvl2pPr marL="914400" lvl="1" indent="-90805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Char char="–"/>
              <a:defRPr sz="10700"/>
            </a:lvl2pPr>
            <a:lvl3pPr marL="1371600" lvl="2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3pPr>
            <a:lvl4pPr marL="1828800" lvl="3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4pPr>
            <a:lvl5pPr marL="2286000" lvl="4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»"/>
              <a:defRPr sz="8000"/>
            </a:lvl5pPr>
            <a:lvl6pPr marL="2743200" lvl="5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6pPr>
            <a:lvl7pPr marL="3200400" lvl="6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7pPr>
            <a:lvl8pPr marL="3657600" lvl="7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8pPr>
            <a:lvl9pPr marL="4114800" lvl="8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19522441" y="7254242"/>
            <a:ext cx="16962120" cy="205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102235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500"/>
              <a:buChar char="•"/>
              <a:defRPr sz="12500"/>
            </a:lvl1pPr>
            <a:lvl2pPr marL="914400" lvl="1" indent="-90805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Char char="–"/>
              <a:defRPr sz="10700"/>
            </a:lvl2pPr>
            <a:lvl3pPr marL="1371600" lvl="2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3pPr>
            <a:lvl4pPr marL="1828800" lvl="3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4pPr>
            <a:lvl5pPr marL="2286000" lvl="4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»"/>
              <a:defRPr sz="8000"/>
            </a:lvl5pPr>
            <a:lvl6pPr marL="2743200" lvl="5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6pPr>
            <a:lvl7pPr marL="3200400" lvl="6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7pPr>
            <a:lvl8pPr marL="3657600" lvl="7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8pPr>
            <a:lvl9pPr marL="4114800" lvl="8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920241" y="6959178"/>
            <a:ext cx="16968790" cy="290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b" anchorCtr="0">
            <a:noAutofit/>
          </a:bodyPr>
          <a:lstStyle>
            <a:lvl1pPr marL="457200" lvl="0" indent="-22860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 b="1"/>
            </a:lvl1pPr>
            <a:lvl2pPr marL="914400" lvl="1" indent="-22860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None/>
              <a:defRPr sz="8900" b="1"/>
            </a:lvl2pPr>
            <a:lvl3pPr marL="1371600" lvl="2" indent="-228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3pPr>
            <a:lvl4pPr marL="1828800" lvl="3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4pPr>
            <a:lvl5pPr marL="2286000" lvl="4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5pPr>
            <a:lvl6pPr marL="2743200" lvl="5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6pPr>
            <a:lvl7pPr marL="3200400" lvl="6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7pPr>
            <a:lvl8pPr marL="3657600" lvl="7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8pPr>
            <a:lvl9pPr marL="4114800" lvl="8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1920241" y="9859433"/>
            <a:ext cx="16968790" cy="1791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90805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Char char="•"/>
              <a:defRPr sz="10700"/>
            </a:lvl1pPr>
            <a:lvl2pPr marL="914400" lvl="1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–"/>
              <a:defRPr sz="8900"/>
            </a:lvl2pPr>
            <a:lvl3pPr marL="1371600" lvl="2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3pPr>
            <a:lvl4pPr marL="1828800" lvl="3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–"/>
              <a:defRPr sz="7100"/>
            </a:lvl4pPr>
            <a:lvl5pPr marL="2286000" lvl="4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»"/>
              <a:defRPr sz="7100"/>
            </a:lvl5pPr>
            <a:lvl6pPr marL="2743200" lvl="5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6pPr>
            <a:lvl7pPr marL="3200400" lvl="6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7pPr>
            <a:lvl8pPr marL="3657600" lvl="7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8pPr>
            <a:lvl9pPr marL="4114800" lvl="8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19509106" y="6959178"/>
            <a:ext cx="16975455" cy="290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b" anchorCtr="0">
            <a:noAutofit/>
          </a:bodyPr>
          <a:lstStyle>
            <a:lvl1pPr marL="457200" lvl="0" indent="-22860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 b="1"/>
            </a:lvl1pPr>
            <a:lvl2pPr marL="914400" lvl="1" indent="-22860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None/>
              <a:defRPr sz="8900" b="1"/>
            </a:lvl2pPr>
            <a:lvl3pPr marL="1371600" lvl="2" indent="-228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3pPr>
            <a:lvl4pPr marL="1828800" lvl="3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4pPr>
            <a:lvl5pPr marL="2286000" lvl="4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5pPr>
            <a:lvl6pPr marL="2743200" lvl="5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6pPr>
            <a:lvl7pPr marL="3200400" lvl="6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7pPr>
            <a:lvl8pPr marL="3657600" lvl="7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8pPr>
            <a:lvl9pPr marL="4114800" lvl="8" indent="-22860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19509106" y="9859433"/>
            <a:ext cx="16975455" cy="1791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90805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Char char="•"/>
              <a:defRPr sz="10700"/>
            </a:lvl1pPr>
            <a:lvl2pPr marL="914400" lvl="1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–"/>
              <a:defRPr sz="8900"/>
            </a:lvl2pPr>
            <a:lvl3pPr marL="1371600" lvl="2" indent="-736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3pPr>
            <a:lvl4pPr marL="1828800" lvl="3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–"/>
              <a:defRPr sz="7100"/>
            </a:lvl4pPr>
            <a:lvl5pPr marL="2286000" lvl="4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»"/>
              <a:defRPr sz="7100"/>
            </a:lvl5pPr>
            <a:lvl6pPr marL="2743200" lvl="5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6pPr>
            <a:lvl7pPr marL="3200400" lvl="6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7pPr>
            <a:lvl8pPr marL="3657600" lvl="7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8pPr>
            <a:lvl9pPr marL="4114800" lvl="8" indent="-679450" algn="l">
              <a:spcBef>
                <a:spcPts val="1420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20244" y="1237827"/>
            <a:ext cx="12634915" cy="52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Calibri"/>
              <a:buNone/>
              <a:defRPr sz="89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5015209" y="1237828"/>
            <a:ext cx="21469349" cy="26534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1136650" algn="l">
              <a:spcBef>
                <a:spcPts val="2860"/>
              </a:spcBef>
              <a:spcAft>
                <a:spcPts val="0"/>
              </a:spcAft>
              <a:buClr>
                <a:schemeClr val="dk1"/>
              </a:buClr>
              <a:buSzPts val="14300"/>
              <a:buChar char="•"/>
              <a:defRPr sz="14300"/>
            </a:lvl1pPr>
            <a:lvl2pPr marL="914400" lvl="1" indent="-1022350" algn="l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500"/>
              <a:buChar char="–"/>
              <a:defRPr sz="12500"/>
            </a:lvl2pPr>
            <a:lvl3pPr marL="1371600" lvl="2" indent="-908050" algn="l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Char char="•"/>
              <a:defRPr sz="10700"/>
            </a:lvl3pPr>
            <a:lvl4pPr marL="1828800" lvl="3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–"/>
              <a:defRPr sz="8900"/>
            </a:lvl4pPr>
            <a:lvl5pPr marL="2286000" lvl="4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»"/>
              <a:defRPr sz="8900"/>
            </a:lvl5pPr>
            <a:lvl6pPr marL="2743200" lvl="5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6pPr>
            <a:lvl7pPr marL="3200400" lvl="6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7pPr>
            <a:lvl8pPr marL="3657600" lvl="7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8pPr>
            <a:lvl9pPr marL="4114800" lvl="8" indent="-793750" algn="l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Char char="•"/>
              <a:defRPr sz="8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1920244" y="6505788"/>
            <a:ext cx="12634915" cy="2126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/>
            </a:lvl1pPr>
            <a:lvl2pPr marL="914400" lvl="1" indent="-22860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7527610" y="21762720"/>
            <a:ext cx="23042881" cy="256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Calibri"/>
              <a:buNone/>
              <a:defRPr sz="89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7527610" y="2777913"/>
            <a:ext cx="23042881" cy="1865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R="0" lvl="0" algn="l" rtl="0">
              <a:spcBef>
                <a:spcPts val="2860"/>
              </a:spcBef>
              <a:spcAft>
                <a:spcPts val="0"/>
              </a:spcAft>
              <a:buClr>
                <a:schemeClr val="dk1"/>
              </a:buClr>
              <a:buSzPts val="14300"/>
              <a:buFont typeface="Arial"/>
              <a:buNone/>
              <a:defRPr sz="14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Arial"/>
              <a:buNone/>
              <a:defRPr sz="1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Font typeface="Arial"/>
              <a:buNone/>
              <a:defRPr sz="10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None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7527610" y="24331931"/>
            <a:ext cx="23042881" cy="36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/>
            </a:lvl1pPr>
            <a:lvl2pPr marL="914400" lvl="1" indent="-22860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8943550" y="230933"/>
            <a:ext cx="20517700" cy="3456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18900563" y="10187945"/>
            <a:ext cx="26526913" cy="864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98364" y="1866904"/>
            <a:ext cx="26526913" cy="2528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920240" y="1245027"/>
            <a:ext cx="3456431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0"/>
              <a:buFont typeface="Calibri"/>
              <a:buNone/>
              <a:defRPr sz="1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920240" y="7254242"/>
            <a:ext cx="34564319" cy="205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t" anchorCtr="0">
            <a:noAutofit/>
          </a:bodyPr>
          <a:lstStyle>
            <a:lvl1pPr marL="457200" marR="0" lvl="0" indent="-1136650" algn="l" rtl="0">
              <a:spcBef>
                <a:spcPts val="2860"/>
              </a:spcBef>
              <a:spcAft>
                <a:spcPts val="0"/>
              </a:spcAft>
              <a:buClr>
                <a:schemeClr val="dk1"/>
              </a:buClr>
              <a:buSzPts val="14300"/>
              <a:buFont typeface="Arial"/>
              <a:buChar char="•"/>
              <a:defRPr sz="14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2235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Arial"/>
              <a:buChar char="–"/>
              <a:defRPr sz="1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08050" algn="l" rtl="0">
              <a:spcBef>
                <a:spcPts val="2140"/>
              </a:spcBef>
              <a:spcAft>
                <a:spcPts val="0"/>
              </a:spcAft>
              <a:buClr>
                <a:schemeClr val="dk1"/>
              </a:buClr>
              <a:buSzPts val="10700"/>
              <a:buFont typeface="Arial"/>
              <a:buChar char="•"/>
              <a:defRPr sz="10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–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»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•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•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•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93750" algn="l" rtl="0"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8900"/>
              <a:buFont typeface="Arial"/>
              <a:buChar char="•"/>
              <a:defRPr sz="8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920240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3121641" y="28815456"/>
            <a:ext cx="121615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7523441" y="28815456"/>
            <a:ext cx="8961120" cy="165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addlingmag.com/trips/destinations/best-whitewater-towns/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eremybjohnson/GIS-Geocoding" TargetMode="External"/><Relationship Id="rId5" Type="http://schemas.openxmlformats.org/officeDocument/2006/relationships/hyperlink" Target="https://www.google.com/maps/d/edit?mid=1AB0bToCMXhcqmrATPyFhRHwqzRCptGo&amp;usp=sharing" TargetMode="External"/><Relationship Id="rId4" Type="http://schemas.openxmlformats.org/officeDocument/2006/relationships/hyperlink" Target="https://www.tripadvisor.com/Articles-lZE3ni5GqgOc-Best_white_water_rafting_trips_us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0" y="-305699"/>
            <a:ext cx="38404800" cy="3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7475" tIns="203725" rIns="407475" bIns="203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en-US" sz="8000" b="1" dirty="0"/>
              <a:t>Top 57 Whitewater Towns in the United States and Canda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889001" y="3548028"/>
            <a:ext cx="79122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89001" y="4999037"/>
            <a:ext cx="11272500" cy="633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Whitewater kayaking is an exhilarating way to spend your free time. Sometimes it can be hard to find the best places to get out and enjoy the rapids. 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map, and accompanying list, outline the 57 best towns to enjoy your next adventure. 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based on rankings and reviews from Paddling Magazine and Tripadvisor.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89001" y="11667884"/>
            <a:ext cx="149352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89012" y="12913533"/>
            <a:ext cx="11201400" cy="6245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original data sets were gathered from two main sources:  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95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Char char="●"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Paddling Magazine article </a:t>
            </a:r>
            <a:r>
              <a:rPr lang="en-US" sz="4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50 Of The Best Whitewater Towns To Visit before You Die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95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Char char="●"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Tripadvisor </a:t>
            </a:r>
            <a:r>
              <a:rPr lang="en-US" sz="4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20 Amazing White Water Rafting Trips In The USA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 including ranking and category are included.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3362872" y="16617834"/>
            <a:ext cx="174243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362881" y="17969043"/>
            <a:ext cx="11121300" cy="1132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 total of 57 top rated towns for whitewater in the United States and Canada.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of the towns are in Canada. 6 of them are in the province of Ontario and 4 of them are in British Columbia.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remaining 41 are in the United States. They are mostly spread out along mountain ranges of the west and east coast with the Rocky Mountains being most represented.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United States, Colorado leads the pack with 7 entries. California comes in second with 4. The rest are spread out around the United States.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3933714" y="14869200"/>
            <a:ext cx="22462157" cy="135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u="sng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Figure 1</a:t>
            </a:r>
            <a:r>
              <a:rPr lang="en-US" sz="37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Locations of the 57 top whitewater towns in the United States and Canada. The link to the map can be found </a:t>
            </a:r>
            <a:r>
              <a:rPr lang="en-US" sz="37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r>
              <a:rPr lang="en-US" sz="37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. The link to the data tables can be found here.</a:t>
            </a:r>
            <a:endParaRPr sz="37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26319650" y="16617845"/>
            <a:ext cx="174243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6319641" y="17969036"/>
            <a:ext cx="11121300" cy="996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important factor associated with enjoying your next whitewater adventure is to find the best places to run the rapids.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two reputable sources have outlined the best towns to take your adventure to the next level.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Enjoy this “best of” list when planning your next whitewater trip.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Citation</a:t>
            </a:r>
            <a:r>
              <a:rPr lang="en-US" sz="3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Jeremy Johnson(2025), “</a:t>
            </a:r>
            <a:r>
              <a:rPr lang="en-US" sz="3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57 Whitewater Towns in the United States and Canada</a:t>
            </a:r>
            <a:r>
              <a:rPr lang="en-US" sz="3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 GitHub, </a:t>
            </a:r>
            <a:r>
              <a:rPr lang="en-US" sz="3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</a:t>
            </a:r>
            <a:r>
              <a:rPr lang="en-US" sz="3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github.com</a:t>
            </a:r>
            <a:r>
              <a:rPr lang="en-US" sz="3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/</a:t>
            </a:r>
            <a:r>
              <a:rPr lang="en-US" sz="3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jeremybjohnson</a:t>
            </a:r>
            <a:r>
              <a:rPr lang="en-US" sz="3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/GIS-Geocoding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5756650" y="28091089"/>
            <a:ext cx="12287700" cy="16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875" tIns="50925" rIns="101875" bIns="50925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00" dirty="0"/>
              <a:t>    </a:t>
            </a:r>
            <a:r>
              <a:rPr lang="en-US" sz="4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Jeremy Johnson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Houston City College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GISC 1411 - Geographic Information Systems, Fall 2025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3"/>
          <p:cNvCxnSpPr/>
          <p:nvPr/>
        </p:nvCxnSpPr>
        <p:spPr>
          <a:xfrm>
            <a:off x="0" y="3159400"/>
            <a:ext cx="384048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3"/>
          <p:cNvSpPr txBox="1"/>
          <p:nvPr/>
        </p:nvSpPr>
        <p:spPr>
          <a:xfrm>
            <a:off x="924562" y="21766909"/>
            <a:ext cx="11201400" cy="840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of data was created using the locations for whitewater towns from the two data sources. This table included ranking and category where available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data was geocoded in Google Maps. The map can be found here </a:t>
            </a:r>
            <a:r>
              <a:rPr lang="en-US" sz="4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57 Best Whitewater Towns In The United States And Canada</a:t>
            </a:r>
            <a:r>
              <a:rPr lang="en-US" sz="4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file including the latitude and longitude for the locations can be found 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here</a:t>
            </a:r>
            <a:r>
              <a:rPr lang="en-US" sz="4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89001" y="20156056"/>
            <a:ext cx="149352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59425" rIns="118850" bIns="59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/>
          </a:p>
        </p:txBody>
      </p:sp>
      <p:pic>
        <p:nvPicPr>
          <p:cNvPr id="3" name="Picture 2" descr="A map of the united states with blue circles and white text&#10;&#10;AI-generated content may be incorrect.">
            <a:extLst>
              <a:ext uri="{FF2B5EF4-FFF2-40B4-BE49-F238E27FC236}">
                <a16:creationId xmlns:a16="http://schemas.microsoft.com/office/drawing/2014/main" id="{B6B99CCA-05D7-77C4-1C12-AA91BB1B5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7162" y="4228030"/>
            <a:ext cx="15593129" cy="98955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431</Words>
  <Application>Microsoft Macintosh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Top 57 Whitewater Towns in the United States and Canda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Jeremy Johnson</cp:lastModifiedBy>
  <cp:revision>6</cp:revision>
  <dcterms:modified xsi:type="dcterms:W3CDTF">2025-11-01T15:13:36Z</dcterms:modified>
</cp:coreProperties>
</file>